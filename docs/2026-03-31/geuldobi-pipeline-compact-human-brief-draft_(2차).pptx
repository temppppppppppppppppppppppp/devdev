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1" r:id="rId3"/>
    <p:sldId id="260" r:id="rId4"/>
    <p:sldId id="259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65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 전체샷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스테이지에 저장 전 판정 또는 handoff 차단 지점이 있다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63040"/>
            <a:ext cx="2578608" cy="438912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</a:p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ko-KR" altLang="en-US" sz="1000" dirty="0" smtClean="0">
                <a:solidFill>
                  <a:schemeClr val="bg1"/>
                </a:solidFill>
              </a:rPr>
              <a:t>이런 </a:t>
            </a:r>
            <a:r>
              <a:rPr lang="ko-KR" altLang="en-US" sz="1000" dirty="0">
                <a:solidFill>
                  <a:schemeClr val="bg1"/>
                </a:solidFill>
              </a:rPr>
              <a:t>세계관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이런 </a:t>
            </a:r>
            <a:r>
              <a:rPr lang="ko-KR" altLang="en-US" sz="1000" dirty="0" smtClean="0">
                <a:solidFill>
                  <a:schemeClr val="bg1"/>
                </a:solidFill>
              </a:rPr>
              <a:t>주인공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생성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자산 정리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68096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gate / handoff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RETRY면 재작성,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저장 또는 handoff 중단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584448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1463040"/>
            <a:ext cx="2578608" cy="438912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</a:rPr>
              <a:t>앞으로 </a:t>
            </a:r>
            <a:r>
              <a:rPr lang="en-US" altLang="ko-KR" sz="900" dirty="0" smtClean="0">
                <a:solidFill>
                  <a:schemeClr val="bg1"/>
                </a:solidFill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</a:rPr>
              <a:t>몇 화 </a:t>
            </a:r>
            <a:r>
              <a:rPr lang="ko-KR" altLang="en-US" sz="900" dirty="0">
                <a:solidFill>
                  <a:schemeClr val="bg1"/>
                </a:solidFill>
              </a:rPr>
              <a:t>동안 이런 이야기 흐름으로 </a:t>
            </a:r>
            <a:r>
              <a:rPr lang="ko-KR" altLang="en-US" sz="900" dirty="0" smtClean="0">
                <a:solidFill>
                  <a:schemeClr val="bg1"/>
                </a:solidFill>
              </a:rPr>
              <a:t>가자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 arc 설계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730752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858768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finalize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arc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arc 재생성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47104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1463040"/>
            <a:ext cx="2578608" cy="43891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</a:p>
          <a:p>
            <a:pPr algn="ctr"/>
            <a:r>
              <a:rPr lang="en-US" altLang="ko-KR" sz="1000" dirty="0" smtClean="0">
                <a:solidFill>
                  <a:schemeClr val="bg1"/>
                </a:solidFill>
              </a:rPr>
              <a:t>n</a:t>
            </a:r>
            <a:r>
              <a:rPr lang="ko-KR" altLang="en-US" sz="1000" dirty="0" smtClean="0">
                <a:solidFill>
                  <a:schemeClr val="bg1"/>
                </a:solidFill>
              </a:rPr>
              <a:t>화는 </a:t>
            </a:r>
            <a:r>
              <a:rPr lang="ko-KR" altLang="en-US" sz="1000" dirty="0">
                <a:solidFill>
                  <a:schemeClr val="bg1"/>
                </a:solidFill>
              </a:rPr>
              <a:t>이런 장면들로 </a:t>
            </a:r>
            <a:r>
              <a:rPr lang="ko-KR" altLang="en-US" sz="1000" dirty="0" smtClean="0">
                <a:solidFill>
                  <a:schemeClr val="bg1"/>
                </a:solidFill>
              </a:rPr>
              <a:t>구성하자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11696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11696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blueprint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설계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93408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821424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1696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blueprint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blueprint 재작성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509760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9760" y="1463040"/>
            <a:ext cx="2578608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</a:p>
          <a:p>
            <a:pPr algn="ctr"/>
            <a:r>
              <a:rPr lang="ko-KR" altLang="en-US" sz="1000" dirty="0" smtClean="0">
                <a:solidFill>
                  <a:schemeClr val="bg1"/>
                </a:solidFill>
              </a:rPr>
              <a:t>실제 </a:t>
            </a:r>
            <a:r>
              <a:rPr lang="ko-KR" altLang="en-US" sz="1000" dirty="0">
                <a:solidFill>
                  <a:schemeClr val="bg1"/>
                </a:solidFill>
              </a:rPr>
              <a:t>소설 텍스트 </a:t>
            </a:r>
            <a:r>
              <a:rPr lang="ko-KR" altLang="en-US" sz="1000" dirty="0" smtClean="0">
                <a:solidFill>
                  <a:schemeClr val="bg1"/>
                </a:solidFill>
              </a:rPr>
              <a:t>생성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74352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74352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manuscript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draft 작성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9656064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784080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interview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74352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4352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local patch loop,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retry routing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21792" y="5669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5779008"/>
            <a:ext cx="1068019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글도비는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직렬 파이프라인이 아니라, 각 stage마다 판정 게이트와 수정 경로가 붙어 있는 계층형 운영 구조다.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94" name="Text 2"/>
          <p:cNvSpPr/>
          <p:nvPr/>
        </p:nvSpPr>
        <p:spPr>
          <a:xfrm>
            <a:off x="621792" y="420624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취약점과 해결 방안</a:t>
            </a:r>
            <a:endParaRPr lang="en-US" sz="2400" dirty="0"/>
          </a:p>
        </p:txBody>
      </p:sp>
      <p:sp>
        <p:nvSpPr>
          <p:cNvPr id="95" name="Text 3"/>
          <p:cNvSpPr/>
          <p:nvPr/>
        </p:nvSpPr>
        <p:spPr>
          <a:xfrm>
            <a:off x="658368" y="896112"/>
            <a:ext cx="6949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시나리오별로 보면 취약점의 무게중심이 달라지지만, 공통 핵심은 API/자격증명 관리다</a:t>
            </a:r>
            <a:endParaRPr lang="en-US" sz="1080" dirty="0"/>
          </a:p>
        </p:txBody>
      </p:sp>
      <p:sp>
        <p:nvSpPr>
          <p:cNvPr id="97" name="Shape 5"/>
          <p:cNvSpPr/>
          <p:nvPr/>
        </p:nvSpPr>
        <p:spPr>
          <a:xfrm>
            <a:off x="6583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98" name="Shape 6"/>
          <p:cNvSpPr/>
          <p:nvPr/>
        </p:nvSpPr>
        <p:spPr>
          <a:xfrm>
            <a:off x="658368" y="1417320"/>
            <a:ext cx="5394960" cy="457200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9" name="Text 7"/>
          <p:cNvSpPr/>
          <p:nvPr/>
        </p:nvSpPr>
        <p:spPr>
          <a:xfrm>
            <a:off x="8229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포기 · 운영 전용 백엔드</a:t>
            </a:r>
            <a:endParaRPr lang="en-US" sz="1300" dirty="0"/>
          </a:p>
        </p:txBody>
      </p:sp>
      <p:sp>
        <p:nvSpPr>
          <p:cNvPr id="100" name="Shape 8"/>
          <p:cNvSpPr/>
          <p:nvPr/>
        </p:nvSpPr>
        <p:spPr>
          <a:xfrm>
            <a:off x="841248" y="2084832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01" name="Shape 9"/>
          <p:cNvSpPr/>
          <p:nvPr/>
        </p:nvSpPr>
        <p:spPr>
          <a:xfrm>
            <a:off x="9875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02" name="Text 10"/>
          <p:cNvSpPr/>
          <p:nvPr/>
        </p:nvSpPr>
        <p:spPr>
          <a:xfrm>
            <a:off x="10972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03" name="Text 11"/>
          <p:cNvSpPr/>
          <p:nvPr/>
        </p:nvSpPr>
        <p:spPr>
          <a:xfrm>
            <a:off x="1005840" y="268590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4" name="Text 12"/>
          <p:cNvSpPr/>
          <p:nvPr/>
        </p:nvSpPr>
        <p:spPr>
          <a:xfrm>
            <a:off x="1188720" y="267675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리스크는 외부 해킹보다 평문 API 키 저장, 백업본, subprocess env 확산이다.</a:t>
            </a:r>
            <a:endParaRPr lang="en-US" sz="1000" dirty="0"/>
          </a:p>
        </p:txBody>
      </p:sp>
      <p:sp>
        <p:nvSpPr>
          <p:cNvPr id="105" name="Text 13"/>
          <p:cNvSpPr/>
          <p:nvPr/>
        </p:nvSpPr>
        <p:spPr>
          <a:xfrm>
            <a:off x="1005840" y="308823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6" name="Text 14"/>
          <p:cNvSpPr/>
          <p:nvPr/>
        </p:nvSpPr>
        <p:spPr>
          <a:xfrm>
            <a:off x="1188720" y="307909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원고·판정 사유·운영 로그는 계속 필요하므로, 기기/계정 통제가 약하면 그대로 노출된다.</a:t>
            </a:r>
            <a:endParaRPr lang="en-US" sz="1000" dirty="0"/>
          </a:p>
        </p:txBody>
      </p:sp>
      <p:sp>
        <p:nvSpPr>
          <p:cNvPr id="107" name="Text 15"/>
          <p:cNvSpPr/>
          <p:nvPr/>
        </p:nvSpPr>
        <p:spPr>
          <a:xfrm>
            <a:off x="1005840" y="349057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8" name="Text 16"/>
          <p:cNvSpPr/>
          <p:nvPr/>
        </p:nvSpPr>
        <p:spPr>
          <a:xfrm>
            <a:off x="1188720" y="3481431"/>
            <a:ext cx="44439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공격면은 줄지만 secret 관리가 약하면 내부 운영형 구조도 안전하지 않다.</a:t>
            </a:r>
            <a:endParaRPr lang="en-US" sz="1000" dirty="0"/>
          </a:p>
        </p:txBody>
      </p:sp>
      <p:sp>
        <p:nvSpPr>
          <p:cNvPr id="109" name="Shape 17"/>
          <p:cNvSpPr/>
          <p:nvPr/>
        </p:nvSpPr>
        <p:spPr>
          <a:xfrm>
            <a:off x="841248" y="3785616"/>
            <a:ext cx="5029200" cy="2039112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0" name="Shape 18"/>
          <p:cNvSpPr/>
          <p:nvPr/>
        </p:nvSpPr>
        <p:spPr>
          <a:xfrm>
            <a:off x="9875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1" name="Text 19"/>
          <p:cNvSpPr/>
          <p:nvPr/>
        </p:nvSpPr>
        <p:spPr>
          <a:xfrm>
            <a:off x="10972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12" name="Text 20"/>
          <p:cNvSpPr/>
          <p:nvPr/>
        </p:nvSpPr>
        <p:spPr>
          <a:xfrm>
            <a:off x="987552" y="444784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3" name="Text 21"/>
          <p:cNvSpPr/>
          <p:nvPr/>
        </p:nvSpPr>
        <p:spPr>
          <a:xfrm>
            <a:off x="1170432" y="443869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desktop/bridge를 걷어내고 CLI/배치 중심으로 단순화한다.</a:t>
            </a:r>
            <a:endParaRPr lang="en-US" sz="1015" dirty="0"/>
          </a:p>
        </p:txBody>
      </p:sp>
      <p:sp>
        <p:nvSpPr>
          <p:cNvPr id="114" name="Text 22"/>
          <p:cNvSpPr/>
          <p:nvPr/>
        </p:nvSpPr>
        <p:spPr>
          <a:xfrm>
            <a:off x="1005840" y="4698590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5" name="Text 23"/>
          <p:cNvSpPr/>
          <p:nvPr/>
        </p:nvSpPr>
        <p:spPr>
          <a:xfrm>
            <a:off x="1188720" y="4689446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key보다 Vertex service account 또는 OS credential store로 전환한다.</a:t>
            </a:r>
            <a:endParaRPr lang="en-US" sz="1015" dirty="0"/>
          </a:p>
        </p:txBody>
      </p:sp>
      <p:sp>
        <p:nvSpPr>
          <p:cNvPr id="116" name="Text 24"/>
          <p:cNvSpPr/>
          <p:nvPr/>
        </p:nvSpPr>
        <p:spPr>
          <a:xfrm>
            <a:off x="1005840" y="498155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7" name="Text 25"/>
          <p:cNvSpPr/>
          <p:nvPr/>
        </p:nvSpPr>
        <p:spPr>
          <a:xfrm>
            <a:off x="1188720" y="497240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계정 분리, 디스크 암호화, 최소 감사 로그만 유지한다.</a:t>
            </a:r>
            <a:endParaRPr lang="en-US" sz="1015" dirty="0"/>
          </a:p>
        </p:txBody>
      </p:sp>
      <p:sp>
        <p:nvSpPr>
          <p:cNvPr id="118" name="Shape 26"/>
          <p:cNvSpPr/>
          <p:nvPr/>
        </p:nvSpPr>
        <p:spPr>
          <a:xfrm>
            <a:off x="61447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9" name="Shape 27"/>
          <p:cNvSpPr/>
          <p:nvPr/>
        </p:nvSpPr>
        <p:spPr>
          <a:xfrm>
            <a:off x="6144768" y="1417320"/>
            <a:ext cx="5394960" cy="457200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0" name="Text 28"/>
          <p:cNvSpPr/>
          <p:nvPr/>
        </p:nvSpPr>
        <p:spPr>
          <a:xfrm>
            <a:off x="63093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 FE 유지</a:t>
            </a:r>
            <a:endParaRPr lang="en-US" sz="1300" dirty="0"/>
          </a:p>
        </p:txBody>
      </p:sp>
      <p:sp>
        <p:nvSpPr>
          <p:cNvPr id="121" name="Shape 29"/>
          <p:cNvSpPr/>
          <p:nvPr/>
        </p:nvSpPr>
        <p:spPr>
          <a:xfrm>
            <a:off x="6327648" y="2084832"/>
            <a:ext cx="5029200" cy="1636776"/>
          </a:xfrm>
          <a:prstGeom prst="roundRect">
            <a:avLst>
              <a:gd name="adj" fmla="val 5000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2" name="Shape 30"/>
          <p:cNvSpPr/>
          <p:nvPr/>
        </p:nvSpPr>
        <p:spPr>
          <a:xfrm>
            <a:off x="64739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23" name="Text 31"/>
          <p:cNvSpPr/>
          <p:nvPr/>
        </p:nvSpPr>
        <p:spPr>
          <a:xfrm>
            <a:off x="65836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24" name="Text 32"/>
          <p:cNvSpPr/>
          <p:nvPr/>
        </p:nvSpPr>
        <p:spPr>
          <a:xfrm>
            <a:off x="6492240" y="270947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5" name="Text 33"/>
          <p:cNvSpPr/>
          <p:nvPr/>
        </p:nvSpPr>
        <p:spPr>
          <a:xfrm>
            <a:off x="6675120" y="2718620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 무인증, 전역 WebSocket broadcast, prompt/input 노출이 현재 제일 직접적인 취약점이다.</a:t>
            </a:r>
            <a:endParaRPr lang="en-US" sz="1020" dirty="0"/>
          </a:p>
        </p:txBody>
      </p:sp>
      <p:sp>
        <p:nvSpPr>
          <p:cNvPr id="126" name="Text 34"/>
          <p:cNvSpPr/>
          <p:nvPr/>
        </p:nvSpPr>
        <p:spPr>
          <a:xfrm>
            <a:off x="6492240" y="306852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7" name="Text 35"/>
          <p:cNvSpPr/>
          <p:nvPr/>
        </p:nvSpPr>
        <p:spPr>
          <a:xfrm>
            <a:off x="6675120" y="305938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 평문 키 저장과 .bak 복구본은 로컬 탈취 면을 넓힌다.</a:t>
            </a:r>
            <a:endParaRPr lang="en-US" sz="1020" dirty="0"/>
          </a:p>
        </p:txBody>
      </p:sp>
      <p:sp>
        <p:nvSpPr>
          <p:cNvPr id="128" name="Text 36"/>
          <p:cNvSpPr/>
          <p:nvPr/>
        </p:nvSpPr>
        <p:spPr>
          <a:xfrm>
            <a:off x="6492240" y="332841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9" name="Text 37"/>
          <p:cNvSpPr/>
          <p:nvPr/>
        </p:nvSpPr>
        <p:spPr>
          <a:xfrm>
            <a:off x="6675120" y="331927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FE 자체보다 control plane과 secret 저장 방식이 문제의 중심이다.</a:t>
            </a:r>
            <a:endParaRPr lang="en-US" sz="1020" dirty="0"/>
          </a:p>
        </p:txBody>
      </p:sp>
      <p:sp>
        <p:nvSpPr>
          <p:cNvPr id="130" name="Shape 38"/>
          <p:cNvSpPr/>
          <p:nvPr/>
        </p:nvSpPr>
        <p:spPr>
          <a:xfrm>
            <a:off x="6327648" y="3785615"/>
            <a:ext cx="5029200" cy="2039113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31" name="Shape 39"/>
          <p:cNvSpPr/>
          <p:nvPr/>
        </p:nvSpPr>
        <p:spPr>
          <a:xfrm>
            <a:off x="64739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2" name="Text 40"/>
          <p:cNvSpPr/>
          <p:nvPr/>
        </p:nvSpPr>
        <p:spPr>
          <a:xfrm>
            <a:off x="65836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33" name="Text 41"/>
          <p:cNvSpPr/>
          <p:nvPr/>
        </p:nvSpPr>
        <p:spPr>
          <a:xfrm>
            <a:off x="6473952" y="455757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4" name="Text 42"/>
          <p:cNvSpPr/>
          <p:nvPr/>
        </p:nvSpPr>
        <p:spPr>
          <a:xfrm>
            <a:off x="6656832" y="454842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대신 로컬 IPC 또는 세션 토큰 기반 bridge로 제한한다.</a:t>
            </a:r>
            <a:endParaRPr lang="en-US" sz="1015" dirty="0"/>
          </a:p>
        </p:txBody>
      </p:sp>
      <p:sp>
        <p:nvSpPr>
          <p:cNvPr id="135" name="Text 43"/>
          <p:cNvSpPr/>
          <p:nvPr/>
        </p:nvSpPr>
        <p:spPr>
          <a:xfrm>
            <a:off x="6473952" y="485017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6" name="Text 44"/>
          <p:cNvSpPr/>
          <p:nvPr/>
        </p:nvSpPr>
        <p:spPr>
          <a:xfrm>
            <a:off x="6656832" y="484103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WebSocket은 run_id 또는 세션 단위로 scope를 분리한다.</a:t>
            </a:r>
            <a:endParaRPr lang="en-US" sz="1015" dirty="0"/>
          </a:p>
        </p:txBody>
      </p:sp>
      <p:sp>
        <p:nvSpPr>
          <p:cNvPr id="137" name="Text 45"/>
          <p:cNvSpPr/>
          <p:nvPr/>
        </p:nvSpPr>
        <p:spPr>
          <a:xfrm>
            <a:off x="6473952" y="509970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8" name="Text 46"/>
          <p:cNvSpPr/>
          <p:nvPr/>
        </p:nvSpPr>
        <p:spPr>
          <a:xfrm>
            <a:off x="6656832" y="509056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평문 저장을 없애고, FE는 운영 편의 기능만 담당하게 만든다.</a:t>
            </a:r>
            <a:endParaRPr lang="en-US" sz="1015" dirty="0"/>
          </a:p>
        </p:txBody>
      </p:sp>
      <p:sp>
        <p:nvSpPr>
          <p:cNvPr id="142" name="Text 25"/>
          <p:cNvSpPr/>
          <p:nvPr/>
        </p:nvSpPr>
        <p:spPr>
          <a:xfrm>
            <a:off x="658368" y="6058739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포기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15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취약점은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사라지고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보안의 핵심은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자격증명 관리와 운영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통제로 좁아진다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15" b="1" dirty="0"/>
          </a:p>
        </p:txBody>
      </p:sp>
      <p:sp>
        <p:nvSpPr>
          <p:cNvPr id="143" name="Text 25"/>
          <p:cNvSpPr/>
          <p:nvPr/>
        </p:nvSpPr>
        <p:spPr>
          <a:xfrm>
            <a:off x="6144768" y="6058948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운영용이라도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secret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구조를 별도로 잠그지 않으면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자체가 가장 직접적인 취약점 표면이 된다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15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255" y="263999"/>
            <a:ext cx="6907012" cy="6301393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>
            <a:off x="6811861" y="263999"/>
            <a:ext cx="0" cy="6301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5412298" y="259609"/>
            <a:ext cx="0" cy="6301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893891" y="263999"/>
            <a:ext cx="0" cy="6301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</a:t>
            </a:r>
            <a:r>
              <a:rPr lang="en-US" sz="24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PASS_WITH_FIX는 accept branch 내부 patch loop이고, REJECT는 retry routing으로 빠진다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and persist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검증까지 통과하면 저장 후보가 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13716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53896"/>
            <a:ext cx="15179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65960"/>
            <a:ext cx="29626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pass-fix patch loop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branch 안에서 수정하고 Director가 다시 감리한다.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5644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38528"/>
            <a:ext cx="2944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routing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pathology가 반복되면 더 큰 재생성 또는 상위 단계 재작성으로 올라간다.</a:t>
            </a:r>
            <a:endParaRPr lang="en-US" sz="106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182112"/>
          <a:ext cx="1069848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lane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inplace patch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초안을 유지한 채 명확한 오류 지점만 국소 수정한다.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reduced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장면 또는 논리 블록만 다시 써서 비용을 낮춘다.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patch 계약이 무너지면 거의 새 원고처럼 다시 생성한다.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 레벨에서 수렴하지 않으면 단일 에피소드 blueprint까지 역피드백을 올린다.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QR-7 reroute / HIL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pathology가 반복되면 full rewrite reroute 또는 인간 개입 구간으로 escalation된다.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57424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852160"/>
            <a:ext cx="104058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요지: 첫 라운드는 ensemble 3개 후보에서 시작하고, Stage 4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기회가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소진되면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후 </a:t>
            </a:r>
            <a:r>
              <a:rPr lang="en-US" altLang="ko-KR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HIL </a:t>
            </a:r>
            <a:r>
              <a:rPr lang="ko-KR" alt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대기로 넘어간다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주요 병목 3가지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관찰상 retry 비용, 계약 정규화, 인간 선호 품질이 핵심 병목이다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문제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기준에 바로 맞는 원고가 나오지 않는 경우가 많다.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Writer가 여러 차례 재생성해야 해서 비용과 시간이 함께 </a:t>
            </a:r>
            <a:r>
              <a:rPr lang="en-US" sz="11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늘어난다</a:t>
            </a:r>
            <a: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sz="11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현재 평균 </a:t>
            </a:r>
            <a:r>
              <a:rPr lang="ko-KR" altLang="en-US" sz="11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재시도율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3-5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회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-&gt; 250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화 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기준 </a:t>
            </a:r>
            <a:r>
              <a:rPr lang="en-US" altLang="ko-KR" sz="11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api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비용 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약 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100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만 원 좌우 예상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87368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문제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88536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간 암묵적 계약과 컨텍스트 계층화가 완전히 정규화되지 않았다.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간 </a:t>
            </a:r>
            <a:r>
              <a:rPr lang="en-US" sz="11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오염이</a:t>
            </a: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가능성이 커서</a:t>
            </a:r>
            <a: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HIL을 쉽게 뺄 수 </a:t>
            </a:r>
            <a:r>
              <a:rPr lang="en-US" sz="11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</a:t>
            </a:r>
            <a: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각 스테이지 진행하는 과정에서 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HIL 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61504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 문제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62672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연속성과 정합성을 맞춘 원고라도 사람 기준의 재미, 문체, 흡입력은 별도 문제다.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해결과 인간 선호는 자동으로 일치하지 </a:t>
            </a:r>
            <a:r>
              <a:rPr lang="en-US" sz="11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sz="11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자사 작품 대상 </a:t>
            </a:r>
            <a:r>
              <a:rPr 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Few-shot 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추출 진행 중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좋은 원고 및 장면에 대한 기준 설계 고려 중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r>
              <a:rPr lang="ko-KR" altLang="en-US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5559552"/>
            <a:ext cx="9902952" cy="621792"/>
          </a:xfrm>
          <a:prstGeom prst="roundRect">
            <a:avLst>
              <a:gd name="adj" fmla="val 11765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669280"/>
            <a:ext cx="961034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지금의 핵심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과제는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절감 + 컨텍스트 오염 제어 + 인간 선호 품질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안정화를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달성하는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699</Words>
  <Application>Microsoft Office PowerPoint</Application>
  <PresentationFormat>와이드스크린</PresentationFormat>
  <Paragraphs>122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파이프라인 Compact Brief</dc:title>
  <dc:subject>글도비 파이프라인 컴팩트 브리프 발표 초안</dc:subject>
  <dc:creator>Codex</dc:creator>
  <cp:lastModifiedBy>wjjo</cp:lastModifiedBy>
  <cp:revision>10</cp:revision>
  <dcterms:created xsi:type="dcterms:W3CDTF">2026-03-31T03:53:52Z</dcterms:created>
  <dcterms:modified xsi:type="dcterms:W3CDTF">2026-03-31T04:57:40Z</dcterms:modified>
</cp:coreProperties>
</file>