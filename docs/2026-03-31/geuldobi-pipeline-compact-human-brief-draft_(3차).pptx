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63" r:id="rId3"/>
    <p:sldId id="261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65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10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0-2-3-4 전체샷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스테이지에 저장 전 판정 또는 handoff 차단 지점이 있다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463040"/>
            <a:ext cx="2578608" cy="438912"/>
          </a:xfrm>
          <a:prstGeom prst="rect">
            <a:avLst/>
          </a:prstGeom>
          <a:solidFill>
            <a:srgbClr val="BA6B2D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</a:p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 </a:t>
            </a:r>
            <a:r>
              <a:rPr lang="ko-KR" altLang="en-US" sz="1000" dirty="0" smtClean="0">
                <a:solidFill>
                  <a:schemeClr val="bg1"/>
                </a:solidFill>
              </a:rPr>
              <a:t>이런 </a:t>
            </a:r>
            <a:r>
              <a:rPr lang="ko-KR" altLang="en-US" sz="1000" dirty="0">
                <a:solidFill>
                  <a:schemeClr val="bg1"/>
                </a:solidFill>
              </a:rPr>
              <a:t>세계관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이런 </a:t>
            </a:r>
            <a:r>
              <a:rPr lang="ko-KR" altLang="en-US" sz="1000" dirty="0" smtClean="0">
                <a:solidFill>
                  <a:schemeClr val="bg1"/>
                </a:solidFill>
              </a:rPr>
              <a:t>주인공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86384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6384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candidate 생성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자산 정리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768096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896112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 gate / handoff gate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RETRY면 재작성,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저장 또는 handoff 중단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3584448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84448" y="1463040"/>
            <a:ext cx="2578608" cy="438912"/>
          </a:xfrm>
          <a:prstGeom prst="rect">
            <a:avLst/>
          </a:prstGeom>
          <a:solidFill>
            <a:srgbClr val="2F6E73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</a:p>
          <a:p>
            <a:pPr algn="ctr"/>
            <a:r>
              <a:rPr lang="ko-KR" altLang="en-US" sz="900" dirty="0" smtClean="0">
                <a:solidFill>
                  <a:schemeClr val="bg1"/>
                </a:solidFill>
              </a:rPr>
              <a:t>앞으로 </a:t>
            </a:r>
            <a:r>
              <a:rPr lang="en-US" altLang="ko-KR" sz="900" dirty="0" smtClean="0">
                <a:solidFill>
                  <a:schemeClr val="bg1"/>
                </a:solidFill>
              </a:rPr>
              <a:t> </a:t>
            </a:r>
            <a:r>
              <a:rPr lang="ko-KR" altLang="en-US" sz="900" dirty="0" smtClean="0">
                <a:solidFill>
                  <a:schemeClr val="bg1"/>
                </a:solidFill>
              </a:rPr>
              <a:t>몇 화 </a:t>
            </a:r>
            <a:r>
              <a:rPr lang="ko-KR" altLang="en-US" sz="900" dirty="0">
                <a:solidFill>
                  <a:schemeClr val="bg1"/>
                </a:solidFill>
              </a:rPr>
              <a:t>동안 이런 이야기 흐름으로 </a:t>
            </a:r>
            <a:r>
              <a:rPr lang="ko-KR" altLang="en-US" sz="900" dirty="0" smtClean="0">
                <a:solidFill>
                  <a:schemeClr val="bg1"/>
                </a:solidFill>
              </a:rPr>
              <a:t>가자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49040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49040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story arc 설계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3730752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858768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finalize gate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49040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49040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arc patch,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arc 재생성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547104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47104" y="1463040"/>
            <a:ext cx="2578608" cy="438912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</a:p>
          <a:p>
            <a:pPr algn="ctr"/>
            <a:r>
              <a:rPr lang="en-US" altLang="ko-KR" sz="1000" dirty="0" smtClean="0">
                <a:solidFill>
                  <a:schemeClr val="bg1"/>
                </a:solidFill>
              </a:rPr>
              <a:t>n</a:t>
            </a:r>
            <a:r>
              <a:rPr lang="ko-KR" altLang="en-US" sz="1000" dirty="0" smtClean="0">
                <a:solidFill>
                  <a:schemeClr val="bg1"/>
                </a:solidFill>
              </a:rPr>
              <a:t>화는 </a:t>
            </a:r>
            <a:r>
              <a:rPr lang="ko-KR" altLang="en-US" sz="1000" dirty="0">
                <a:solidFill>
                  <a:schemeClr val="bg1"/>
                </a:solidFill>
              </a:rPr>
              <a:t>이런 장면들로 </a:t>
            </a:r>
            <a:r>
              <a:rPr lang="ko-KR" altLang="en-US" sz="1000" dirty="0" smtClean="0">
                <a:solidFill>
                  <a:schemeClr val="bg1"/>
                </a:solidFill>
              </a:rPr>
              <a:t>구성하자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11696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11696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blueprint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episode 설계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6693408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821424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 gate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711696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11696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blueprint patch,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blueprint 재작성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9509760" y="1463040"/>
            <a:ext cx="2578608" cy="384048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09760" y="1463040"/>
            <a:ext cx="2578608" cy="43891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56064" y="1581912"/>
            <a:ext cx="2286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</a:t>
            </a:r>
            <a:r>
              <a:rPr lang="en-US" sz="1200" b="1" dirty="0" smtClean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</a:p>
          <a:p>
            <a:pPr algn="ctr"/>
            <a:r>
              <a:rPr lang="ko-KR" altLang="en-US" sz="1000" dirty="0" smtClean="0">
                <a:solidFill>
                  <a:schemeClr val="bg1"/>
                </a:solidFill>
              </a:rPr>
              <a:t>실제 </a:t>
            </a:r>
            <a:r>
              <a:rPr lang="ko-KR" altLang="en-US" sz="1000" dirty="0">
                <a:solidFill>
                  <a:schemeClr val="bg1"/>
                </a:solidFill>
              </a:rPr>
              <a:t>소설 텍스트 </a:t>
            </a:r>
            <a:r>
              <a:rPr lang="ko-KR" altLang="en-US" sz="1000" dirty="0" smtClean="0">
                <a:solidFill>
                  <a:schemeClr val="bg1"/>
                </a:solidFill>
              </a:rPr>
              <a:t>생성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9674352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산출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674352" y="2267712"/>
            <a:ext cx="2249424" cy="6949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manuscript generation</a:t>
            </a:r>
            <a:endParaRPr lang="en-US" sz="1040" dirty="0"/>
          </a:p>
          <a:p>
            <a:pPr marL="0" indent="0" algn="l">
              <a:buNone/>
            </a:pPr>
            <a:r>
              <a:rPr lang="en-US" sz="104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actual draft 작성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9656064" y="2907792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E6EDF4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0" y="304495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게이트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9784080" y="3227832"/>
            <a:ext cx="1993392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director interview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74352" y="38770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674352" y="4096512"/>
            <a:ext cx="2249424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PASS_WITH_FIX면 local patch loop,</a:t>
            </a: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REJECT면 retry routing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621792" y="566928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" y="5779008"/>
            <a:ext cx="10680192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r>
              <a:rPr lang="en-US" sz="11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글도비는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직렬 파이프라인이 아니라, 각 stage마다 판정 게이트와 수정 경로가 붙어 있는 계층형 운영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구조다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(</a:t>
            </a:r>
            <a:r>
              <a:rPr lang="ko-KR" altLang="en-US" sz="1100" dirty="0" err="1"/>
              <a:t>스켈레톤</a:t>
            </a:r>
            <a:r>
              <a:rPr lang="ko-KR" altLang="en-US" sz="1100" dirty="0"/>
              <a:t> </a:t>
            </a:r>
            <a:r>
              <a:rPr lang="en-US" altLang="ko-KR" sz="1100" dirty="0"/>
              <a:t>-&gt; </a:t>
            </a:r>
            <a:r>
              <a:rPr lang="ko-KR" altLang="en-US" sz="1100" dirty="0"/>
              <a:t>구체화 </a:t>
            </a:r>
            <a:r>
              <a:rPr lang="en-US" altLang="ko-KR" sz="1100" dirty="0"/>
              <a:t>-&gt; </a:t>
            </a:r>
            <a:r>
              <a:rPr lang="ko-KR" altLang="en-US" sz="1100" dirty="0" err="1"/>
              <a:t>스켈레톤</a:t>
            </a:r>
            <a:r>
              <a:rPr lang="ko-KR" altLang="en-US" sz="1100" dirty="0"/>
              <a:t> </a:t>
            </a:r>
            <a:r>
              <a:rPr lang="en-US" altLang="ko-KR" sz="1100" dirty="0"/>
              <a:t>-&gt; </a:t>
            </a:r>
            <a:r>
              <a:rPr lang="ko-KR" altLang="en-US" sz="1100" dirty="0" smtClean="0"/>
              <a:t>구체화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주요 병목 3가지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관찰상 retry 비용, 계약 정규화, 인간 선호 품질이 핵심 병목이다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문제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2724912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endParaRPr lang="en-US" sz="11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087368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70248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9976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 문제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87368" y="2276857"/>
            <a:ext cx="3145536" cy="28152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ko-KR" altLang="en-US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돌아는 가는 상태 </a:t>
            </a:r>
            <a: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altLang="ko-KR" sz="11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altLang="ko-KR" sz="11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</a:t>
            </a:r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부채 </a:t>
            </a:r>
            <a:r>
              <a:rPr lang="en-US" altLang="ko-KR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handoff</a:t>
            </a:r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많다</a:t>
            </a:r>
            <a:r>
              <a:rPr lang="en-US" altLang="ko-KR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endParaRPr lang="en-US" altLang="ko-KR" sz="9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과다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 Stage 2 → 3 → 4</a:t>
            </a: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처리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사실을 여러 단계에서 반복 생성</a:t>
            </a: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재해석 비용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중간 산출물을 다음 단계가 다시 </a:t>
            </a:r>
            <a:r>
              <a:rPr lang="ko-KR" altLang="en-US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</a:t>
            </a:r>
            <a:endParaRPr lang="ko-KR" altLang="en-US" sz="9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 불명확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상위에서 결정 안 한 것을 하위가 </a:t>
            </a:r>
            <a:r>
              <a:rPr lang="ko-KR" altLang="en-US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재판단</a:t>
            </a:r>
            <a:endParaRPr lang="ko-KR" altLang="en-US" sz="9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악</a:t>
            </a:r>
            <a:r>
              <a:rPr lang="ko-KR" altLang="en-US" sz="105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</a:t>
            </a:r>
            <a:r>
              <a:rPr lang="en-US" altLang="ko-KR" sz="105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feedback + handoff </a:t>
            </a:r>
            <a:r>
              <a:rPr lang="ko-KR" altLang="en-US" sz="105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증가</a:t>
            </a:r>
          </a:p>
        </p:txBody>
      </p:sp>
      <p:sp>
        <p:nvSpPr>
          <p:cNvPr id="19" name="Shape 17"/>
          <p:cNvSpPr/>
          <p:nvPr/>
        </p:nvSpPr>
        <p:spPr>
          <a:xfrm>
            <a:off x="7461504" y="1572768"/>
            <a:ext cx="3154680" cy="36118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44384" y="181051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54112" y="1892808"/>
            <a:ext cx="119786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퀄리티 문제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61504" y="2276857"/>
            <a:ext cx="3154680" cy="271467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5060 </a:t>
            </a:r>
            <a:r>
              <a:rPr lang="ko-KR" altLang="en-US" sz="14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남성층</a:t>
            </a:r>
            <a:r>
              <a:rPr lang="ko-KR" altLang="en-US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대상</a:t>
            </a:r>
            <a:r>
              <a:rPr lang="en-US" altLang="ko-KR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순매출</a:t>
            </a:r>
            <a:r>
              <a:rPr lang="ko-KR" altLang="en-US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</a:t>
            </a:r>
          </a:p>
          <a:p>
            <a:pPr marL="0" indent="0" algn="l">
              <a:buNone/>
            </a:pPr>
            <a:endParaRPr lang="en-US" sz="9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endParaRPr lang="en-US" sz="9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ko-KR" altLang="en-US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제작 필요 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endParaRPr lang="en-US" sz="9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sz="9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연속성과</a:t>
            </a:r>
            <a:r>
              <a:rPr 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정합성을 맞춘 </a:t>
            </a:r>
            <a:r>
              <a:rPr lang="en-US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원고라도</a:t>
            </a:r>
            <a:r>
              <a:rPr 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</a:t>
            </a:r>
            <a:r>
              <a:rPr 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문체, 흡입력은 별도 문제다.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연속성 해결과 인간 선호는 자동으로 일치하지 </a:t>
            </a:r>
            <a:r>
              <a:rPr lang="en-US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않는다</a:t>
            </a:r>
            <a:r>
              <a:rPr 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 algn="l">
              <a:buNone/>
            </a:pPr>
            <a:r>
              <a:rPr 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/>
            </a:r>
            <a:br>
              <a:rPr 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</a:b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문체 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-&gt; </a:t>
            </a:r>
            <a:r>
              <a:rPr lang="ko-KR" altLang="en-US" sz="9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원고클로닝으로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 해결</a:t>
            </a:r>
            <a:endParaRPr lang="en-US" altLang="ko-KR" sz="9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l">
              <a:buNone/>
            </a:pP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장면 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-&gt;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자사 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작품 대상 </a:t>
            </a:r>
            <a:r>
              <a:rPr 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Few-shot 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추출 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진행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중</a:t>
            </a:r>
            <a:endParaRPr lang="en-US" altLang="ko-KR" sz="9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" y="5559552"/>
            <a:ext cx="9902952" cy="621792"/>
          </a:xfrm>
          <a:prstGeom prst="roundRect">
            <a:avLst>
              <a:gd name="adj" fmla="val 11765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669280"/>
            <a:ext cx="9610344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1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지금의 핵심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과제는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절감 + 컨텍스트 오염 제어 + 인간 선호 품질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안정화를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달성하는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것이다.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713232" y="2276856"/>
            <a:ext cx="3053425" cy="2898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ko-KR" altLang="en-US" sz="14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병목이 남아 있는 상태</a:t>
            </a:r>
            <a:r>
              <a:rPr lang="en-US" altLang="ko-KR" sz="105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altLang="ko-KR" sz="105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endParaRPr lang="en-US" altLang="ko-KR" sz="105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/>
            </a:r>
            <a:b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ko-KR" altLang="en-US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</a:t>
            </a:r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부채 </a:t>
            </a:r>
            <a:r>
              <a:rPr lang="en-US" altLang="ko-KR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기획이 </a:t>
            </a:r>
            <a:r>
              <a:rPr lang="ko-KR" altLang="en-US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불명확 </a:t>
            </a:r>
            <a:r>
              <a:rPr lang="en-US" altLang="ko-KR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ko-KR" altLang="en-US" sz="9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보정층</a:t>
            </a:r>
            <a:r>
              <a:rPr lang="ko-KR" altLang="en-US" sz="9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누적</a:t>
            </a:r>
            <a:endParaRPr lang="ko-KR" altLang="en-US" sz="900" b="1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혼용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</a:t>
            </a:r>
            <a:r>
              <a:rPr lang="ko-KR" altLang="en-US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스테이지별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의미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용어 </a:t>
            </a:r>
          </a:p>
          <a:p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god </a:t>
            </a:r>
            <a:r>
              <a:rPr lang="en-US" altLang="ko-KR" sz="900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</a:t>
            </a:r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장함수는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분해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ko-KR" altLang="en-US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 줄 </a:t>
            </a:r>
            <a:r>
              <a:rPr lang="en-US" altLang="ko-KR" sz="900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</a:p>
          <a:p>
            <a:endParaRPr lang="en-US" altLang="ko-KR" sz="900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endParaRPr lang="en-US" altLang="ko-KR" sz="900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부채 </a:t>
            </a:r>
            <a:r>
              <a:rPr lang="en-US" altLang="ko-KR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스테이지별</a:t>
            </a:r>
            <a:r>
              <a:rPr lang="ko-KR" altLang="en-US" sz="9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규칙이 다르게 적용</a:t>
            </a: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계층에서는 중요하게 여겨지는 규칙이 하위 계층에선 덜 중요하게 적용된다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ko-KR" altLang="en-US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계약의 강도 및 규칙이 일관적이지 않다</a:t>
            </a:r>
            <a:r>
              <a:rPr lang="en-US" altLang="ko-KR" sz="9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0828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94" name="Text 2"/>
          <p:cNvSpPr/>
          <p:nvPr/>
        </p:nvSpPr>
        <p:spPr>
          <a:xfrm>
            <a:off x="621792" y="420624"/>
            <a:ext cx="4297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취약점과 해결 방안</a:t>
            </a:r>
            <a:endParaRPr lang="en-US" sz="2400" dirty="0"/>
          </a:p>
        </p:txBody>
      </p:sp>
      <p:sp>
        <p:nvSpPr>
          <p:cNvPr id="95" name="Text 3"/>
          <p:cNvSpPr/>
          <p:nvPr/>
        </p:nvSpPr>
        <p:spPr>
          <a:xfrm>
            <a:off x="658368" y="896112"/>
            <a:ext cx="69494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8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시나리오별로 보면 취약점의 무게중심이 달라지지만, 공통 핵심은 API/자격증명 관리다</a:t>
            </a:r>
            <a:endParaRPr lang="en-US" sz="1080" dirty="0"/>
          </a:p>
        </p:txBody>
      </p:sp>
      <p:sp>
        <p:nvSpPr>
          <p:cNvPr id="97" name="Shape 5"/>
          <p:cNvSpPr/>
          <p:nvPr/>
        </p:nvSpPr>
        <p:spPr>
          <a:xfrm>
            <a:off x="6583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98" name="Shape 6"/>
          <p:cNvSpPr/>
          <p:nvPr/>
        </p:nvSpPr>
        <p:spPr>
          <a:xfrm>
            <a:off x="658368" y="1417320"/>
            <a:ext cx="5394960" cy="457200"/>
          </a:xfrm>
          <a:prstGeom prst="rect">
            <a:avLst/>
          </a:prstGeom>
          <a:solidFill>
            <a:srgbClr val="BA6B2D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99" name="Text 7"/>
          <p:cNvSpPr/>
          <p:nvPr/>
        </p:nvSpPr>
        <p:spPr>
          <a:xfrm>
            <a:off x="822960" y="1545336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포기 · 운영 전용 백엔드</a:t>
            </a:r>
            <a:endParaRPr lang="en-US" sz="1300" dirty="0"/>
          </a:p>
        </p:txBody>
      </p:sp>
      <p:sp>
        <p:nvSpPr>
          <p:cNvPr id="100" name="Shape 8"/>
          <p:cNvSpPr/>
          <p:nvPr/>
        </p:nvSpPr>
        <p:spPr>
          <a:xfrm>
            <a:off x="841248" y="2084832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01" name="Shape 9"/>
          <p:cNvSpPr/>
          <p:nvPr/>
        </p:nvSpPr>
        <p:spPr>
          <a:xfrm>
            <a:off x="987552" y="2249424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02" name="Text 10"/>
          <p:cNvSpPr/>
          <p:nvPr/>
        </p:nvSpPr>
        <p:spPr>
          <a:xfrm>
            <a:off x="1097280" y="2340864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</a:t>
            </a:r>
            <a:endParaRPr lang="en-US" sz="1000" dirty="0"/>
          </a:p>
        </p:txBody>
      </p:sp>
      <p:sp>
        <p:nvSpPr>
          <p:cNvPr id="103" name="Text 11"/>
          <p:cNvSpPr/>
          <p:nvPr/>
        </p:nvSpPr>
        <p:spPr>
          <a:xfrm>
            <a:off x="1005840" y="2685903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4" name="Text 12"/>
          <p:cNvSpPr/>
          <p:nvPr/>
        </p:nvSpPr>
        <p:spPr>
          <a:xfrm>
            <a:off x="1188720" y="2676759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리스크는 외부 해킹보다 평문 API 키 저장, 백업본, subprocess env 확산이다.</a:t>
            </a:r>
            <a:endParaRPr lang="en-US" sz="1000" dirty="0"/>
          </a:p>
        </p:txBody>
      </p:sp>
      <p:sp>
        <p:nvSpPr>
          <p:cNvPr id="105" name="Text 13"/>
          <p:cNvSpPr/>
          <p:nvPr/>
        </p:nvSpPr>
        <p:spPr>
          <a:xfrm>
            <a:off x="1005840" y="308823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6" name="Text 14"/>
          <p:cNvSpPr/>
          <p:nvPr/>
        </p:nvSpPr>
        <p:spPr>
          <a:xfrm>
            <a:off x="1188720" y="307909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원고·판정 사유·운영 로그는 계속 필요하므로, 기기/계정 통제가 약하면 그대로 노출된다.</a:t>
            </a:r>
            <a:endParaRPr lang="en-US" sz="1000" dirty="0"/>
          </a:p>
        </p:txBody>
      </p:sp>
      <p:sp>
        <p:nvSpPr>
          <p:cNvPr id="107" name="Text 15"/>
          <p:cNvSpPr/>
          <p:nvPr/>
        </p:nvSpPr>
        <p:spPr>
          <a:xfrm>
            <a:off x="1005840" y="349057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00" dirty="0"/>
          </a:p>
        </p:txBody>
      </p:sp>
      <p:sp>
        <p:nvSpPr>
          <p:cNvPr id="108" name="Text 16"/>
          <p:cNvSpPr/>
          <p:nvPr/>
        </p:nvSpPr>
        <p:spPr>
          <a:xfrm>
            <a:off x="1188720" y="3481431"/>
            <a:ext cx="444398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공격면은 줄지만 secret 관리가 약하면 내부 운영형 구조도 안전하지 않다.</a:t>
            </a:r>
            <a:endParaRPr lang="en-US" sz="1000" dirty="0"/>
          </a:p>
        </p:txBody>
      </p:sp>
      <p:sp>
        <p:nvSpPr>
          <p:cNvPr id="109" name="Shape 17"/>
          <p:cNvSpPr/>
          <p:nvPr/>
        </p:nvSpPr>
        <p:spPr>
          <a:xfrm>
            <a:off x="841248" y="3785616"/>
            <a:ext cx="5029200" cy="2039112"/>
          </a:xfrm>
          <a:prstGeom prst="roundRect">
            <a:avLst>
              <a:gd name="adj" fmla="val 4082"/>
            </a:avLst>
          </a:prstGeom>
          <a:solidFill>
            <a:srgbClr val="F7F3EB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10" name="Shape 18"/>
          <p:cNvSpPr/>
          <p:nvPr/>
        </p:nvSpPr>
        <p:spPr>
          <a:xfrm>
            <a:off x="987552" y="3968496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1" name="Text 19"/>
          <p:cNvSpPr/>
          <p:nvPr/>
        </p:nvSpPr>
        <p:spPr>
          <a:xfrm>
            <a:off x="1097280" y="4059936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000" dirty="0"/>
          </a:p>
        </p:txBody>
      </p:sp>
      <p:sp>
        <p:nvSpPr>
          <p:cNvPr id="112" name="Text 20"/>
          <p:cNvSpPr/>
          <p:nvPr/>
        </p:nvSpPr>
        <p:spPr>
          <a:xfrm>
            <a:off x="987552" y="4447843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3" name="Text 21"/>
          <p:cNvSpPr/>
          <p:nvPr/>
        </p:nvSpPr>
        <p:spPr>
          <a:xfrm>
            <a:off x="1170432" y="4438699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desktop/bridge를 걷어내고 CLI/배치 중심으로 단순화한다.</a:t>
            </a:r>
            <a:endParaRPr lang="en-US" sz="1015" dirty="0"/>
          </a:p>
        </p:txBody>
      </p:sp>
      <p:sp>
        <p:nvSpPr>
          <p:cNvPr id="114" name="Text 22"/>
          <p:cNvSpPr/>
          <p:nvPr/>
        </p:nvSpPr>
        <p:spPr>
          <a:xfrm>
            <a:off x="1005840" y="4698590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5" name="Text 23"/>
          <p:cNvSpPr/>
          <p:nvPr/>
        </p:nvSpPr>
        <p:spPr>
          <a:xfrm>
            <a:off x="1188720" y="4689446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key보다 Vertex service account 또는 OS credential store로 전환한다.</a:t>
            </a:r>
            <a:endParaRPr lang="en-US" sz="1015" dirty="0"/>
          </a:p>
        </p:txBody>
      </p:sp>
      <p:sp>
        <p:nvSpPr>
          <p:cNvPr id="116" name="Text 24"/>
          <p:cNvSpPr/>
          <p:nvPr/>
        </p:nvSpPr>
        <p:spPr>
          <a:xfrm>
            <a:off x="1005840" y="4981551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17" name="Text 25"/>
          <p:cNvSpPr/>
          <p:nvPr/>
        </p:nvSpPr>
        <p:spPr>
          <a:xfrm>
            <a:off x="1188720" y="4972407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계정 분리, 디스크 암호화, 최소 감사 </a:t>
            </a:r>
            <a:r>
              <a:rPr lang="en-US" sz="1015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로그만</a:t>
            </a: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15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유지한다</a:t>
            </a:r>
            <a:r>
              <a:rPr 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 algn="l">
              <a:buNone/>
            </a:pPr>
            <a:endParaRPr lang="en-US" sz="1015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l">
              <a:buNone/>
            </a:pPr>
            <a:endParaRPr lang="en-US" sz="1015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l">
              <a:buNone/>
            </a:pPr>
            <a:r>
              <a:rPr 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=&gt; </a:t>
            </a:r>
            <a:r>
              <a:rPr lang="ko-KR" alt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요약 </a:t>
            </a:r>
            <a:r>
              <a:rPr lang="en-US" altLang="ko-KR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API</a:t>
            </a:r>
            <a:r>
              <a:rPr lang="ko-KR" alt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만 관리하면 해결</a:t>
            </a:r>
            <a:r>
              <a:rPr lang="en-US" altLang="ko-KR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sz="1015" dirty="0"/>
          </a:p>
        </p:txBody>
      </p:sp>
      <p:sp>
        <p:nvSpPr>
          <p:cNvPr id="118" name="Shape 26"/>
          <p:cNvSpPr/>
          <p:nvPr/>
        </p:nvSpPr>
        <p:spPr>
          <a:xfrm>
            <a:off x="6144768" y="141732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19" name="Shape 27"/>
          <p:cNvSpPr/>
          <p:nvPr/>
        </p:nvSpPr>
        <p:spPr>
          <a:xfrm>
            <a:off x="6144768" y="1417320"/>
            <a:ext cx="5394960" cy="457200"/>
          </a:xfrm>
          <a:prstGeom prst="rect">
            <a:avLst/>
          </a:prstGeom>
          <a:solidFill>
            <a:srgbClr val="2F6E73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20" name="Text 28"/>
          <p:cNvSpPr/>
          <p:nvPr/>
        </p:nvSpPr>
        <p:spPr>
          <a:xfrm>
            <a:off x="6309360" y="1545336"/>
            <a:ext cx="50292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운영용 FE 유지</a:t>
            </a:r>
            <a:endParaRPr lang="en-US" sz="1300" dirty="0"/>
          </a:p>
        </p:txBody>
      </p:sp>
      <p:sp>
        <p:nvSpPr>
          <p:cNvPr id="121" name="Shape 29"/>
          <p:cNvSpPr/>
          <p:nvPr/>
        </p:nvSpPr>
        <p:spPr>
          <a:xfrm>
            <a:off x="6327648" y="2084832"/>
            <a:ext cx="5029200" cy="1636776"/>
          </a:xfrm>
          <a:prstGeom prst="roundRect">
            <a:avLst>
              <a:gd name="adj" fmla="val 5000"/>
            </a:avLst>
          </a:prstGeom>
          <a:solidFill>
            <a:srgbClr val="E2EFF0"/>
          </a:solidFill>
          <a:ln w="12700">
            <a:solidFill>
              <a:srgbClr val="2F6E73"/>
            </a:solidFill>
            <a:prstDash val="solid"/>
          </a:ln>
        </p:spPr>
      </p:sp>
      <p:sp>
        <p:nvSpPr>
          <p:cNvPr id="122" name="Shape 30"/>
          <p:cNvSpPr/>
          <p:nvPr/>
        </p:nvSpPr>
        <p:spPr>
          <a:xfrm>
            <a:off x="6473952" y="2249424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23" name="Text 31"/>
          <p:cNvSpPr/>
          <p:nvPr/>
        </p:nvSpPr>
        <p:spPr>
          <a:xfrm>
            <a:off x="6583680" y="2340864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취약점</a:t>
            </a:r>
            <a:endParaRPr lang="en-US" sz="1000" dirty="0"/>
          </a:p>
        </p:txBody>
      </p:sp>
      <p:sp>
        <p:nvSpPr>
          <p:cNvPr id="124" name="Text 32"/>
          <p:cNvSpPr/>
          <p:nvPr/>
        </p:nvSpPr>
        <p:spPr>
          <a:xfrm>
            <a:off x="6492240" y="2709476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5" name="Text 33"/>
          <p:cNvSpPr/>
          <p:nvPr/>
        </p:nvSpPr>
        <p:spPr>
          <a:xfrm>
            <a:off x="6675120" y="2718620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 bridge 무인증, 전역 WebSocket broadcast, prompt/input 노출이 현재 제일 직접적인 취약점이다.</a:t>
            </a:r>
            <a:endParaRPr lang="en-US" sz="1020" dirty="0"/>
          </a:p>
        </p:txBody>
      </p:sp>
      <p:sp>
        <p:nvSpPr>
          <p:cNvPr id="126" name="Text 34"/>
          <p:cNvSpPr/>
          <p:nvPr/>
        </p:nvSpPr>
        <p:spPr>
          <a:xfrm>
            <a:off x="6492240" y="306852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7" name="Text 35"/>
          <p:cNvSpPr/>
          <p:nvPr/>
        </p:nvSpPr>
        <p:spPr>
          <a:xfrm>
            <a:off x="6675120" y="3059381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settings.json 평문 키 저장과 .bak 복구본은 로컬 탈취 면을 넓힌다.</a:t>
            </a:r>
            <a:endParaRPr lang="en-US" sz="1020" dirty="0"/>
          </a:p>
        </p:txBody>
      </p:sp>
      <p:sp>
        <p:nvSpPr>
          <p:cNvPr id="128" name="Text 36"/>
          <p:cNvSpPr/>
          <p:nvPr/>
        </p:nvSpPr>
        <p:spPr>
          <a:xfrm>
            <a:off x="6492240" y="3328415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20" dirty="0"/>
          </a:p>
        </p:txBody>
      </p:sp>
      <p:sp>
        <p:nvSpPr>
          <p:cNvPr id="129" name="Text 37"/>
          <p:cNvSpPr/>
          <p:nvPr/>
        </p:nvSpPr>
        <p:spPr>
          <a:xfrm>
            <a:off x="6675120" y="3319271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2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 FE 자체보다 control plane과 secret 저장 방식이 문제의 중심이다.</a:t>
            </a:r>
            <a:endParaRPr lang="en-US" sz="1020" dirty="0"/>
          </a:p>
        </p:txBody>
      </p:sp>
      <p:sp>
        <p:nvSpPr>
          <p:cNvPr id="130" name="Shape 38"/>
          <p:cNvSpPr/>
          <p:nvPr/>
        </p:nvSpPr>
        <p:spPr>
          <a:xfrm>
            <a:off x="6327648" y="3785615"/>
            <a:ext cx="5029200" cy="2039113"/>
          </a:xfrm>
          <a:prstGeom prst="roundRect">
            <a:avLst>
              <a:gd name="adj" fmla="val 4082"/>
            </a:avLst>
          </a:prstGeom>
          <a:solidFill>
            <a:srgbClr val="F7F3EB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31" name="Shape 39"/>
          <p:cNvSpPr/>
          <p:nvPr/>
        </p:nvSpPr>
        <p:spPr>
          <a:xfrm>
            <a:off x="6473952" y="3968496"/>
            <a:ext cx="1024128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2" name="Text 40"/>
          <p:cNvSpPr/>
          <p:nvPr/>
        </p:nvSpPr>
        <p:spPr>
          <a:xfrm>
            <a:off x="6583680" y="4059936"/>
            <a:ext cx="80467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방향</a:t>
            </a:r>
            <a:endParaRPr lang="en-US" sz="1000" dirty="0"/>
          </a:p>
        </p:txBody>
      </p:sp>
      <p:sp>
        <p:nvSpPr>
          <p:cNvPr id="133" name="Text 41"/>
          <p:cNvSpPr/>
          <p:nvPr/>
        </p:nvSpPr>
        <p:spPr>
          <a:xfrm>
            <a:off x="6473952" y="4557571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4" name="Text 42"/>
          <p:cNvSpPr/>
          <p:nvPr/>
        </p:nvSpPr>
        <p:spPr>
          <a:xfrm>
            <a:off x="6656832" y="4548427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대신 로컬 IPC 또는 세션 토큰 기반 bridge로 제한한다.</a:t>
            </a:r>
            <a:endParaRPr lang="en-US" sz="1015" dirty="0"/>
          </a:p>
        </p:txBody>
      </p:sp>
      <p:sp>
        <p:nvSpPr>
          <p:cNvPr id="135" name="Text 43"/>
          <p:cNvSpPr/>
          <p:nvPr/>
        </p:nvSpPr>
        <p:spPr>
          <a:xfrm>
            <a:off x="6473952" y="485017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6" name="Text 44"/>
          <p:cNvSpPr/>
          <p:nvPr/>
        </p:nvSpPr>
        <p:spPr>
          <a:xfrm>
            <a:off x="6656832" y="484103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WebSocket은 run_id 또는 세션 단위로 scope를 분리한다.</a:t>
            </a:r>
            <a:endParaRPr lang="en-US" sz="1015" dirty="0"/>
          </a:p>
        </p:txBody>
      </p:sp>
      <p:sp>
        <p:nvSpPr>
          <p:cNvPr id="137" name="Text 45"/>
          <p:cNvSpPr/>
          <p:nvPr/>
        </p:nvSpPr>
        <p:spPr>
          <a:xfrm>
            <a:off x="6473952" y="5099709"/>
            <a:ext cx="164592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endParaRPr lang="en-US" sz="1015" dirty="0"/>
          </a:p>
        </p:txBody>
      </p:sp>
      <p:sp>
        <p:nvSpPr>
          <p:cNvPr id="138" name="Text 46"/>
          <p:cNvSpPr/>
          <p:nvPr/>
        </p:nvSpPr>
        <p:spPr>
          <a:xfrm>
            <a:off x="6656832" y="5090565"/>
            <a:ext cx="4352544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l">
              <a:buNone/>
            </a:pPr>
            <a:r>
              <a:rPr 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평문 저장을 없애고, FE는 운영 편의 기능만 담당하게 </a:t>
            </a:r>
            <a:r>
              <a:rPr lang="en-US" sz="1015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만든다</a:t>
            </a:r>
            <a:r>
              <a:rPr 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 algn="l">
              <a:buNone/>
            </a:pPr>
            <a:endParaRPr lang="en-US" sz="1015" dirty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pPr marL="0" indent="0" algn="l">
              <a:buNone/>
            </a:pPr>
            <a:endParaRPr lang="en-US" sz="1015" dirty="0" smtClean="0">
              <a:solidFill>
                <a:srgbClr val="17324D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altLang="ko-KR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=&gt; </a:t>
            </a:r>
            <a:r>
              <a:rPr lang="ko-KR" altLang="en-US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요약 </a:t>
            </a:r>
            <a:r>
              <a:rPr lang="en-US" altLang="ko-KR" sz="1015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: </a:t>
            </a:r>
            <a:r>
              <a:rPr lang="ko-KR" altLang="en-US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별도의 관리 체계 수립 필요</a:t>
            </a:r>
            <a:r>
              <a:rPr lang="en-US" altLang="ko-KR" sz="1015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</a:rPr>
              <a:t>.</a:t>
            </a:r>
            <a:endParaRPr lang="en-US" altLang="ko-KR" sz="1015" dirty="0"/>
          </a:p>
          <a:p>
            <a:pPr marL="0" indent="0" algn="l">
              <a:buNone/>
            </a:pPr>
            <a:endParaRPr lang="en-US" sz="1015" dirty="0"/>
          </a:p>
        </p:txBody>
      </p:sp>
      <p:sp>
        <p:nvSpPr>
          <p:cNvPr id="142" name="Text 25"/>
          <p:cNvSpPr/>
          <p:nvPr/>
        </p:nvSpPr>
        <p:spPr>
          <a:xfrm>
            <a:off x="658368" y="6058739"/>
            <a:ext cx="5193792" cy="4618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포기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015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취약점은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사라지고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보안의 핵심은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API/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자격증명 관리와 운영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통제로 좁아진다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15" b="1" dirty="0"/>
          </a:p>
        </p:txBody>
      </p:sp>
      <p:sp>
        <p:nvSpPr>
          <p:cNvPr id="143" name="Text 25"/>
          <p:cNvSpPr/>
          <p:nvPr/>
        </p:nvSpPr>
        <p:spPr>
          <a:xfrm>
            <a:off x="6144768" y="6058948"/>
            <a:ext cx="5193792" cy="4618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운영용이라도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 bridge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secret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구조를 별도로 잠그지 않으면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FE </a:t>
            </a:r>
            <a:r>
              <a:rPr lang="ko-KR" altLang="en-US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자체가 가장 직접적인 취약점 표면이 된다</a:t>
            </a:r>
            <a:r>
              <a:rPr lang="en-US" altLang="ko-KR" sz="1015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15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8404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4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</a:t>
            </a:r>
            <a:r>
              <a:rPr lang="en-US" sz="2400" b="1" dirty="0" err="1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82296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PASS_WITH_FIX는 accept branch 내부 patch loop이고, REJECT는 retry routing으로 빠진다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9808" y="137160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E5F0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F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29968"/>
            <a:ext cx="29260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and persist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검증까지 통과하면 저장 후보가 된다.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43984" y="13716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453896"/>
            <a:ext cx="151790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A6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PASS_WITH_FIX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43984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965960"/>
            <a:ext cx="29626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pass-fix patch loop</a:t>
            </a:r>
            <a:endParaRPr lang="en-US" sz="1080" dirty="0"/>
          </a:p>
          <a:p>
            <a:pPr marL="0" indent="0" algn="ctr">
              <a:buNone/>
            </a:pPr>
            <a:r>
              <a:rPr lang="en-US" sz="108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branch 안에서 수정하고 Director가 다시 감리한다.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56448" y="1371600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5E4DF"/>
          </a:solidFill>
          <a:ln w="12700">
            <a:solidFill>
              <a:srgbClr val="9E44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1453896"/>
            <a:ext cx="859536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E44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56448" y="1792224"/>
            <a:ext cx="329184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6CC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938528"/>
            <a:ext cx="2944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retry routing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pathology가 반복되면 더 큰 재생성 또는 상위 단계 재작성으로 올라간다.</a:t>
            </a:r>
            <a:endParaRPr lang="en-US" sz="106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3182112"/>
          <a:ext cx="10698480" cy="23774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retry lane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8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E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inplace patch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초안을 유지한 채 명확한 오류 지점만 국소 수정한다.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reduced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장면 또는 논리 블록만 다시 써서 비용을 낮춘다.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patch 계약이 무너지면 거의 새 원고처럼 다시 생성한다.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blueprint regenerate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원고 레벨에서 수렴하지 않으면 단일 에피소드 blueprint까지 역피드백을 올린다.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b="1" dirty="0">
                          <a:solidFill>
                            <a:srgbClr val="2F6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QR-7 reroute / HIL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17324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pathology가 반복되면 full rewrite reroute 또는 인간 개입 구간으로 escalation된다.</a:t>
                      </a:r>
                      <a:endParaRPr lang="en-US" sz="98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749808" y="5742432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2E3D5"/>
          </a:solidFill>
          <a:ln w="12700">
            <a:solidFill>
              <a:srgbClr val="BA6B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5852160"/>
            <a:ext cx="104058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요지: 첫 라운드는 ensemble 3개 후보에서 시작하고, Stage 4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10회 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기회가 </a:t>
            </a:r>
            <a:r>
              <a:rPr lang="en-US" sz="1100" b="1" dirty="0" err="1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소진되면</a:t>
            </a:r>
            <a:r>
              <a:rPr lang="en-US" sz="1100" b="1" dirty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정지 후 </a:t>
            </a:r>
            <a:r>
              <a:rPr lang="en-US" altLang="ko-KR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HIL </a:t>
            </a:r>
            <a:r>
              <a:rPr lang="ko-KR" alt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대기로 넘어간다</a:t>
            </a:r>
            <a:r>
              <a:rPr lang="en-US" sz="1100" b="1" dirty="0" smtClean="0">
                <a:solidFill>
                  <a:srgbClr val="1732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E4D6"/>
          </a:solidFill>
          <a:ln w="12700">
            <a:solidFill>
              <a:srgbClr val="EEE4D6"/>
            </a:solidFill>
            <a:prstDash val="solid"/>
          </a:ln>
        </p:spPr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255" y="263999"/>
            <a:ext cx="6907012" cy="6301393"/>
          </a:xfrm>
          <a:prstGeom prst="rect">
            <a:avLst/>
          </a:prstGeom>
        </p:spPr>
      </p:pic>
      <p:cxnSp>
        <p:nvCxnSpPr>
          <p:cNvPr id="13" name="직선 연결선 12"/>
          <p:cNvCxnSpPr/>
          <p:nvPr/>
        </p:nvCxnSpPr>
        <p:spPr>
          <a:xfrm>
            <a:off x="6811861" y="263999"/>
            <a:ext cx="0" cy="6301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5412298" y="259609"/>
            <a:ext cx="0" cy="6301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3893891" y="263999"/>
            <a:ext cx="0" cy="6301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660</Words>
  <Application>Microsoft Office PowerPoint</Application>
  <PresentationFormat>와이드스크린</PresentationFormat>
  <Paragraphs>142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글도비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글도비 파이프라인 Compact Brief</dc:title>
  <dc:subject>글도비 파이프라인 컴팩트 브리프 발표 초안</dc:subject>
  <dc:creator>Codex</dc:creator>
  <cp:lastModifiedBy>wjjo</cp:lastModifiedBy>
  <cp:revision>15</cp:revision>
  <dcterms:created xsi:type="dcterms:W3CDTF">2026-03-31T03:53:52Z</dcterms:created>
  <dcterms:modified xsi:type="dcterms:W3CDTF">2026-04-01T02:26:18Z</dcterms:modified>
</cp:coreProperties>
</file>