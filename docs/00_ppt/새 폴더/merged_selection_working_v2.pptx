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8" r:id="rId4"/>
    <p:sldId id="264" r:id="rId5"/>
    <p:sldId id="265" r:id="rId6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60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사항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1/6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4708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집필</a:t>
            </a:r>
            <a:r>
              <a:rPr lang="en-US" altLang="ko-KR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루프 대체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98564"/>
              </p:ext>
            </p:extLst>
          </p:nvPr>
        </p:nvGraphicFramePr>
        <p:xfrm>
          <a:off x="548640" y="3063240"/>
          <a:ext cx="10972800" cy="24688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글도비 지향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b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기획 루프</a:t>
                      </a:r>
                      <a:endParaRPr lang="en-US" sz="105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b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작가가 인풋을 통해 고민 후 생산한다</a:t>
                      </a:r>
                      <a:endParaRPr lang="en-US" sz="105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</a:t>
                      </a:r>
                      <a:r>
                        <a:rPr lang="ko-KR" altLang="en-US" sz="105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</a:t>
                      </a:r>
                      <a:r>
                        <a:rPr lang="ko-KR" altLang="en-US" sz="1050" b="1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크롤링</a:t>
                      </a:r>
                      <a:r>
                        <a:rPr lang="ko-KR" altLang="en-US" sz="105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후</a:t>
                      </a:r>
                      <a:r>
                        <a:rPr lang="ko-KR" altLang="en-US" sz="105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트렌드를 파악해 추천해 준다</a:t>
                      </a:r>
                      <a:endParaRPr lang="en-US" sz="105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0758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PD와 작가가 기획과 집필을 나눈다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기획 조건을 읽고 원고를 생산한다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편집자가 검토하고 수정 지시를 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평가하고 수정 루프를 다시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인간이 최종 승인한다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판정을 맡고 인간은 과도기에만 남는다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수와 일정이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예산과 운영 효율이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5321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5641848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현재 산출물은 고도 창작 자동화보다 저품질 대량생산에 더 가깝다. 다만 인간 하위 50% 작가층이 신작 런칭 시 내는 연 500만 원 안팎 순매출 구간은 대체 가능성이 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0-2-3-4를 거치며 AI가 설계, 생산, 평가를 수행한다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2/6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824125"/>
              </p:ext>
            </p:extLst>
          </p:nvPr>
        </p:nvGraphicFramePr>
        <p:xfrm>
          <a:off x="548640" y="1325880"/>
          <a:ext cx="10972800" cy="40690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작품의 씨앗을 데이터 구조로 고정한다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 + 장르/시점/문체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세계관과 작품 규칙을 정의한다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및 이전 </a:t>
                      </a:r>
                      <a:r>
                        <a:rPr lang="en-US" altLang="ko-KR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r>
                        <a:rPr lang="en-US" altLang="ko-KR" sz="1050" baseline="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ko-KR" alt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컨텍스트</a:t>
                      </a:r>
                      <a:endParaRPr lang="en-US" altLang="ko-KR" sz="105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2~6화 단위 이야기 배분을 설계한다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b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</a:br>
                      <a:r>
                        <a:rPr lang="ko-KR" altLang="en-US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및 이전 </a:t>
                      </a:r>
                      <a:r>
                        <a:rPr lang="en-US" altLang="ko-KR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r>
                        <a:rPr lang="en-US" altLang="ko-KR" sz="1000" baseline="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ko-KR" altLang="en-US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컨텍스트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화별 스켈레톤을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</a:t>
                      </a:r>
                      <a:b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</a:br>
                      <a:r>
                        <a:rPr lang="ko-KR" altLang="en-US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및 이전 </a:t>
                      </a:r>
                      <a:r>
                        <a:rPr lang="en-US" altLang="ko-KR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manuscripts</a:t>
                      </a:r>
                      <a:r>
                        <a:rPr lang="en-US" altLang="ko-KR" sz="1000" baseline="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ko-KR" altLang="en-US" sz="100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컨텍스트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원고를 </a:t>
                      </a:r>
                      <a:r>
                        <a:rPr lang="en-US" sz="1050" dirty="0" err="1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생성하고</a:t>
                      </a: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심사한다</a:t>
                      </a:r>
                      <a:r>
                        <a:rPr lang="en-US" sz="105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aseline="0" dirty="0" smtClean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596128"/>
            <a:ext cx="10680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각 산출물은 상위 단계의 결정과 이전 결과물을 컨텍스트로 받아 정합성을 맞춘다. 통과하지 못하면 저장 또는 handoff를 멈추고, 해당 단계에서 patch 또는 재생성을 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 전체샷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스테이지에 저장 전 판정 또는 handoff 차단 지점이 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2578608" cy="438912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ko-KR" altLang="en-US" sz="1000" dirty="0" smtClean="0">
                <a:solidFill>
                  <a:schemeClr val="bg1"/>
                </a:solidFill>
              </a:rPr>
              <a:t>이런 </a:t>
            </a:r>
            <a:r>
              <a:rPr lang="ko-KR" altLang="en-US" sz="1000" dirty="0">
                <a:solidFill>
                  <a:schemeClr val="bg1"/>
                </a:solidFill>
              </a:rPr>
              <a:t>세계관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이런 </a:t>
            </a:r>
            <a:r>
              <a:rPr lang="ko-KR" altLang="en-US" sz="1000" dirty="0" smtClean="0">
                <a:solidFill>
                  <a:schemeClr val="bg1"/>
                </a:solidFill>
              </a:rPr>
              <a:t>주인공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생성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자산 정리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gate / handoff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RETRY면 재작성,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저장 또는 handoff 중단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84448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63040"/>
            <a:ext cx="2578608" cy="438912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</a:rPr>
              <a:t>앞으로 </a:t>
            </a:r>
            <a:r>
              <a:rPr lang="en-US" altLang="ko-KR" sz="900" dirty="0" smtClean="0">
                <a:solidFill>
                  <a:schemeClr val="bg1"/>
                </a:solidFill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</a:rPr>
              <a:t>몇 화 </a:t>
            </a:r>
            <a:r>
              <a:rPr lang="ko-KR" altLang="en-US" sz="900" dirty="0">
                <a:solidFill>
                  <a:schemeClr val="bg1"/>
                </a:solidFill>
              </a:rPr>
              <a:t>동안 이런 이야기 흐름으로 </a:t>
            </a:r>
            <a:r>
              <a:rPr lang="ko-KR" altLang="en-US" sz="900" dirty="0" smtClean="0">
                <a:solidFill>
                  <a:schemeClr val="bg1"/>
                </a:solidFill>
              </a:rPr>
              <a:t>가자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 arc 설계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30752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858768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arc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arc 재생성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47104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1463040"/>
            <a:ext cx="2578608" cy="43891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</a:p>
          <a:p>
            <a:pPr algn="ctr"/>
            <a:r>
              <a:rPr lang="en-US" altLang="ko-KR" sz="1000" dirty="0" smtClean="0">
                <a:solidFill>
                  <a:schemeClr val="bg1"/>
                </a:solidFill>
              </a:rPr>
              <a:t>n</a:t>
            </a:r>
            <a:r>
              <a:rPr lang="ko-KR" altLang="en-US" sz="1000" dirty="0" smtClean="0">
                <a:solidFill>
                  <a:schemeClr val="bg1"/>
                </a:solidFill>
              </a:rPr>
              <a:t>화는 </a:t>
            </a:r>
            <a:r>
              <a:rPr lang="ko-KR" altLang="en-US" sz="1000" dirty="0">
                <a:solidFill>
                  <a:schemeClr val="bg1"/>
                </a:solidFill>
              </a:rPr>
              <a:t>이런 장면들로 </a:t>
            </a:r>
            <a:r>
              <a:rPr lang="ko-KR" altLang="en-US" sz="1000" dirty="0" smtClean="0">
                <a:solidFill>
                  <a:schemeClr val="bg1"/>
                </a:solidFill>
              </a:rPr>
              <a:t>구성하자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11696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1696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설계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93408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821424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blueprint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blueprint 재작성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509760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0" y="1463040"/>
            <a:ext cx="2578608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</a:p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실제 </a:t>
            </a:r>
            <a:r>
              <a:rPr lang="ko-KR" altLang="en-US" sz="1000" dirty="0">
                <a:solidFill>
                  <a:schemeClr val="bg1"/>
                </a:solidFill>
              </a:rPr>
              <a:t>소설 텍스트 </a:t>
            </a:r>
            <a:r>
              <a:rPr lang="ko-KR" altLang="en-US" sz="1000" dirty="0" smtClean="0">
                <a:solidFill>
                  <a:schemeClr val="bg1"/>
                </a:solidFill>
              </a:rPr>
              <a:t>생성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74352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74352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manuscript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draft 작성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656064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784080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director gate</a:t>
            </a:r>
          </a:p>
        </p:txBody>
      </p:sp>
      <p:sp>
        <p:nvSpPr>
          <p:cNvPr id="45" name="Text 43"/>
          <p:cNvSpPr/>
          <p:nvPr/>
        </p:nvSpPr>
        <p:spPr>
          <a:xfrm>
            <a:off x="9674352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4352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local patch loop,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retry routing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21792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779008"/>
            <a:ext cx="1068019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상위 설계 -&gt; 하위 구체화로 내려가며, 각 stage마다 판정 게이트와 patch/retry 경로를 둔 계층형 운영 구조</a:t>
            </a:r>
          </a:p>
        </p:txBody>
      </p:sp>
    </p:spTree>
    <p:extLst>
      <p:ext uri="{BB962C8B-B14F-4D97-AF65-F5344CB8AC3E}">
        <p14:creationId xmlns:p14="http://schemas.microsoft.com/office/powerpoint/2010/main" val="316454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주요 병목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관찰상 retry 비용, 계약 정규화, 인간 선호 품질이 핵심 병목이다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retry 비용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87368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계약 정규화</a:t>
            </a:r>
          </a:p>
        </p:txBody>
      </p:sp>
      <p:sp>
        <p:nvSpPr>
          <p:cNvPr id="16" name="Text 14"/>
          <p:cNvSpPr/>
          <p:nvPr/>
        </p:nvSpPr>
        <p:spPr>
          <a:xfrm>
            <a:off x="4087368" y="2276857"/>
            <a:ext cx="3145536" cy="28152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같은 규칙이 stage마다 다른 말과 다른 강도로 적용된다.</a:t>
            </a:r>
          </a:p>
          <a:p>
            <a:r>
              <a:t>상위에서 정한 제약을 하위가 다시 해석하면서 contract drift가 생긴다.</a:t>
            </a:r>
          </a:p>
          <a:p>
            <a:r>
              <a:t>장기 기억 로직도 아직 15화 중심 디버깅 단계다.</a:t>
            </a:r>
          </a:p>
        </p:txBody>
      </p:sp>
      <p:sp>
        <p:nvSpPr>
          <p:cNvPr id="19" name="Shape 17"/>
          <p:cNvSpPr/>
          <p:nvPr/>
        </p:nvSpPr>
        <p:spPr>
          <a:xfrm>
            <a:off x="7461504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인간 선호 품질</a:t>
            </a:r>
          </a:p>
        </p:txBody>
      </p:sp>
      <p:sp>
        <p:nvSpPr>
          <p:cNvPr id="22" name="Text 20"/>
          <p:cNvSpPr/>
          <p:nvPr/>
        </p:nvSpPr>
        <p:spPr>
          <a:xfrm>
            <a:off x="7461504" y="2276857"/>
            <a:ext cx="3154680" cy="27146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정합성을 맞춘다고 재미가 자동으로 생기지는 않는다.</a:t>
            </a:r>
          </a:p>
          <a:p>
            <a:r>
              <a:t>50~60대 남성층 기준 문체·장면·흡입력 벤치마크를 아직 만들어야 한다.</a:t>
            </a:r>
          </a:p>
          <a:p>
            <a:r>
              <a:t>문체는 원고 cloning, 장면은 자사 작품 few-shot으로 보강 중이다.</a:t>
            </a:r>
          </a:p>
        </p:txBody>
      </p:sp>
      <p:sp>
        <p:nvSpPr>
          <p:cNvPr id="25" name="Shape 23"/>
          <p:cNvSpPr/>
          <p:nvPr/>
        </p:nvSpPr>
        <p:spPr>
          <a:xfrm>
            <a:off x="713232" y="5559552"/>
            <a:ext cx="9902952" cy="621792"/>
          </a:xfrm>
          <a:prstGeom prst="roundRect">
            <a:avLst>
              <a:gd name="adj" fmla="val 11765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69280"/>
            <a:ext cx="96103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정리: 지금은 돌아가지만, retry 비용 절감·계약 정규화·인간 선호 품질 안정화 없이는 운영형으로 닫히지 않는다.</a:t>
            </a:r>
          </a:p>
        </p:txBody>
      </p:sp>
      <p:sp>
        <p:nvSpPr>
          <p:cNvPr id="23" name="Text 14"/>
          <p:cNvSpPr/>
          <p:nvPr/>
        </p:nvSpPr>
        <p:spPr>
          <a:xfrm>
            <a:off x="713232" y="2276856"/>
            <a:ext cx="3053425" cy="2898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같은 사실을 여러 단계가 다시 생성·파싱한다.</a:t>
            </a:r>
          </a:p>
          <a:p>
            <a:r>
              <a:t>실패가 나면 feedback + retry가 누적되어 비용이 빠르게 커진다.</a:t>
            </a:r>
          </a:p>
          <a:p>
            <a:r>
              <a:t>Stage 2 -&gt; 3 -&gt; 4 handoff가 많을수록 악순환이 심해진다.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94" name="Text 2"/>
          <p:cNvSpPr/>
          <p:nvPr/>
        </p:nvSpPr>
        <p:spPr>
          <a:xfrm>
            <a:off x="621792" y="420624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취약점과 해결 방안</a:t>
            </a:r>
            <a:endParaRPr lang="en-US" sz="2400" dirty="0"/>
          </a:p>
        </p:txBody>
      </p:sp>
      <p:sp>
        <p:nvSpPr>
          <p:cNvPr id="95" name="Text 3"/>
          <p:cNvSpPr/>
          <p:nvPr/>
        </p:nvSpPr>
        <p:spPr>
          <a:xfrm>
            <a:off x="658368" y="896112"/>
            <a:ext cx="6949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FE 시나리오별로 보면 취약점의 무게중심이 달라지지만, 공통 핵심은 control plane과 자격증명 관리다</a:t>
            </a:r>
          </a:p>
        </p:txBody>
      </p:sp>
      <p:sp>
        <p:nvSpPr>
          <p:cNvPr id="97" name="Shape 5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98" name="Shape 6"/>
          <p:cNvSpPr/>
          <p:nvPr/>
        </p:nvSpPr>
        <p:spPr>
          <a:xfrm>
            <a:off x="658368" y="1417320"/>
            <a:ext cx="5394960" cy="457200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9" name="Text 7"/>
          <p:cNvSpPr/>
          <p:nvPr/>
        </p:nvSpPr>
        <p:spPr>
          <a:xfrm>
            <a:off x="8229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포기 · 운영 전용 백엔드</a:t>
            </a:r>
            <a:endParaRPr lang="en-US" sz="1300" dirty="0"/>
          </a:p>
        </p:txBody>
      </p:sp>
      <p:sp>
        <p:nvSpPr>
          <p:cNvPr id="100" name="Shape 8"/>
          <p:cNvSpPr/>
          <p:nvPr/>
        </p:nvSpPr>
        <p:spPr>
          <a:xfrm>
            <a:off x="841248" y="2084832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01" name="Shape 9"/>
          <p:cNvSpPr/>
          <p:nvPr/>
        </p:nvSpPr>
        <p:spPr>
          <a:xfrm>
            <a:off x="9875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02" name="Text 10"/>
          <p:cNvSpPr/>
          <p:nvPr/>
        </p:nvSpPr>
        <p:spPr>
          <a:xfrm>
            <a:off x="10972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03" name="Text 11"/>
          <p:cNvSpPr/>
          <p:nvPr/>
        </p:nvSpPr>
        <p:spPr>
          <a:xfrm>
            <a:off x="1005840" y="268590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4" name="Text 12"/>
          <p:cNvSpPr/>
          <p:nvPr/>
        </p:nvSpPr>
        <p:spPr>
          <a:xfrm>
            <a:off x="1188720" y="267675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UI/bridge를 걷어내면 localhost bridge, preload, WebSocket 같은 직접 노출면은 크게 줄어든다.</a:t>
            </a:r>
          </a:p>
        </p:txBody>
      </p:sp>
      <p:sp>
        <p:nvSpPr>
          <p:cNvPr id="105" name="Text 13"/>
          <p:cNvSpPr/>
          <p:nvPr/>
        </p:nvSpPr>
        <p:spPr>
          <a:xfrm>
            <a:off x="1005840" y="308823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6" name="Text 14"/>
          <p:cNvSpPr/>
          <p:nvPr/>
        </p:nvSpPr>
        <p:spPr>
          <a:xfrm>
            <a:off x="1188720" y="307909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하지만 평문 키 저장, 백업본, subprocess env 확산, 운영 단말 노출은 그대로 남는다.</a:t>
            </a:r>
          </a:p>
        </p:txBody>
      </p:sp>
      <p:sp>
        <p:nvSpPr>
          <p:cNvPr id="107" name="Text 15"/>
          <p:cNvSpPr/>
          <p:nvPr/>
        </p:nvSpPr>
        <p:spPr>
          <a:xfrm>
            <a:off x="1005840" y="349057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8" name="Text 16"/>
          <p:cNvSpPr/>
          <p:nvPr/>
        </p:nvSpPr>
        <p:spPr>
          <a:xfrm>
            <a:off x="1188720" y="3481431"/>
            <a:ext cx="44439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즉 FE를 없애도 내부자 유출과 secret 관리 문제는 자동으로 해결되지 않는다.</a:t>
            </a:r>
          </a:p>
        </p:txBody>
      </p:sp>
      <p:sp>
        <p:nvSpPr>
          <p:cNvPr id="109" name="Shape 17"/>
          <p:cNvSpPr/>
          <p:nvPr/>
        </p:nvSpPr>
        <p:spPr>
          <a:xfrm>
            <a:off x="841248" y="3785616"/>
            <a:ext cx="5029200" cy="2039112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0" name="Shape 18"/>
          <p:cNvSpPr/>
          <p:nvPr/>
        </p:nvSpPr>
        <p:spPr>
          <a:xfrm>
            <a:off x="9875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10972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12" name="Text 20"/>
          <p:cNvSpPr/>
          <p:nvPr/>
        </p:nvSpPr>
        <p:spPr>
          <a:xfrm>
            <a:off x="987552" y="444784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3" name="Text 21"/>
          <p:cNvSpPr/>
          <p:nvPr/>
        </p:nvSpPr>
        <p:spPr>
          <a:xfrm>
            <a:off x="1170432" y="443869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FE/bridge를 걷어내고 CLI·배치 중심으로 단순화한다.</a:t>
            </a:r>
          </a:p>
        </p:txBody>
      </p:sp>
      <p:sp>
        <p:nvSpPr>
          <p:cNvPr id="114" name="Text 22"/>
          <p:cNvSpPr/>
          <p:nvPr/>
        </p:nvSpPr>
        <p:spPr>
          <a:xfrm>
            <a:off x="1005840" y="469859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5" name="Text 23"/>
          <p:cNvSpPr/>
          <p:nvPr/>
        </p:nvSpPr>
        <p:spPr>
          <a:xfrm>
            <a:off x="1188720" y="468944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API key 대신 Vertex service account, Secret Manager, OS credential store로 옮긴다.</a:t>
            </a:r>
          </a:p>
        </p:txBody>
      </p:sp>
      <p:sp>
        <p:nvSpPr>
          <p:cNvPr id="116" name="Text 24"/>
          <p:cNvSpPr/>
          <p:nvPr/>
        </p:nvSpPr>
        <p:spPr>
          <a:xfrm>
            <a:off x="1005840" y="498155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7" name="Text 25"/>
          <p:cNvSpPr/>
          <p:nvPr/>
        </p:nvSpPr>
        <p:spPr>
          <a:xfrm>
            <a:off x="1188720" y="497240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운영자 계정 분리, 디스크 암호화, 최소 로그 보관, 서버 실행 전환을 검토한다.</a:t>
            </a:r>
          </a:p>
        </p:txBody>
      </p:sp>
      <p:sp>
        <p:nvSpPr>
          <p:cNvPr id="11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9" name="Shape 27"/>
          <p:cNvSpPr/>
          <p:nvPr/>
        </p:nvSpPr>
        <p:spPr>
          <a:xfrm>
            <a:off x="6144768" y="1417320"/>
            <a:ext cx="5394960" cy="457200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0" name="Text 28"/>
          <p:cNvSpPr/>
          <p:nvPr/>
        </p:nvSpPr>
        <p:spPr>
          <a:xfrm>
            <a:off x="63093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 FE 유지</a:t>
            </a:r>
            <a:endParaRPr lang="en-US" sz="1300" dirty="0"/>
          </a:p>
        </p:txBody>
      </p:sp>
      <p:sp>
        <p:nvSpPr>
          <p:cNvPr id="121" name="Shape 29"/>
          <p:cNvSpPr/>
          <p:nvPr/>
        </p:nvSpPr>
        <p:spPr>
          <a:xfrm>
            <a:off x="6327648" y="2084832"/>
            <a:ext cx="5029200" cy="1636776"/>
          </a:xfrm>
          <a:prstGeom prst="roundRect">
            <a:avLst>
              <a:gd name="adj" fmla="val 5000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2" name="Shape 30"/>
          <p:cNvSpPr/>
          <p:nvPr/>
        </p:nvSpPr>
        <p:spPr>
          <a:xfrm>
            <a:off x="64739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23" name="Text 31"/>
          <p:cNvSpPr/>
          <p:nvPr/>
        </p:nvSpPr>
        <p:spPr>
          <a:xfrm>
            <a:off x="65836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24" name="Text 32"/>
          <p:cNvSpPr/>
          <p:nvPr/>
        </p:nvSpPr>
        <p:spPr>
          <a:xfrm>
            <a:off x="6492240" y="270947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5" name="Text 33"/>
          <p:cNvSpPr/>
          <p:nvPr/>
        </p:nvSpPr>
        <p:spPr>
          <a:xfrm>
            <a:off x="6675120" y="271862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localhost bridge 무인증, 전역 WebSocket broadcast, prompt/input 노출이 직접적인 공격면이다.</a:t>
            </a:r>
          </a:p>
        </p:txBody>
      </p:sp>
      <p:sp>
        <p:nvSpPr>
          <p:cNvPr id="126" name="Text 34"/>
          <p:cNvSpPr/>
          <p:nvPr/>
        </p:nvSpPr>
        <p:spPr>
          <a:xfrm>
            <a:off x="6492240" y="306852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7" name="Text 35"/>
          <p:cNvSpPr/>
          <p:nvPr/>
        </p:nvSpPr>
        <p:spPr>
          <a:xfrm>
            <a:off x="6675120" y="305938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settings.json 평문 키 저장과 .bak 복구본은 로컬 탈취 면을 넓힌다.</a:t>
            </a:r>
          </a:p>
        </p:txBody>
      </p:sp>
      <p:sp>
        <p:nvSpPr>
          <p:cNvPr id="128" name="Text 36"/>
          <p:cNvSpPr/>
          <p:nvPr/>
        </p:nvSpPr>
        <p:spPr>
          <a:xfrm>
            <a:off x="6492240" y="332841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9" name="Text 37"/>
          <p:cNvSpPr/>
          <p:nvPr/>
        </p:nvSpPr>
        <p:spPr>
          <a:xfrm>
            <a:off x="6675120" y="331927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결국 FE 자체보다 control plane과 secret 저장 방식이 문제의 중심이다.</a:t>
            </a:r>
          </a:p>
        </p:txBody>
      </p:sp>
      <p:sp>
        <p:nvSpPr>
          <p:cNvPr id="130" name="Shape 38"/>
          <p:cNvSpPr/>
          <p:nvPr/>
        </p:nvSpPr>
        <p:spPr>
          <a:xfrm>
            <a:off x="6327648" y="3785615"/>
            <a:ext cx="5029200" cy="2039113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31" name="Shape 39"/>
          <p:cNvSpPr/>
          <p:nvPr/>
        </p:nvSpPr>
        <p:spPr>
          <a:xfrm>
            <a:off x="64739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2" name="Text 40"/>
          <p:cNvSpPr/>
          <p:nvPr/>
        </p:nvSpPr>
        <p:spPr>
          <a:xfrm>
            <a:off x="65836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33" name="Text 41"/>
          <p:cNvSpPr/>
          <p:nvPr/>
        </p:nvSpPr>
        <p:spPr>
          <a:xfrm>
            <a:off x="6473952" y="455757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4" name="Text 42"/>
          <p:cNvSpPr/>
          <p:nvPr/>
        </p:nvSpPr>
        <p:spPr>
          <a:xfrm>
            <a:off x="6656832" y="454842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HTTP 대신 로컬 IPC 또는 세션 토큰 기반 bridge로 제한한다.</a:t>
            </a:r>
          </a:p>
        </p:txBody>
      </p:sp>
      <p:sp>
        <p:nvSpPr>
          <p:cNvPr id="135" name="Text 43"/>
          <p:cNvSpPr/>
          <p:nvPr/>
        </p:nvSpPr>
        <p:spPr>
          <a:xfrm>
            <a:off x="6473952" y="485017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6" name="Text 44"/>
          <p:cNvSpPr/>
          <p:nvPr/>
        </p:nvSpPr>
        <p:spPr>
          <a:xfrm>
            <a:off x="6656832" y="484103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WebSocket은 run_id 또는 세션 단위로 scope를 분리한다.</a:t>
            </a:r>
          </a:p>
        </p:txBody>
      </p:sp>
      <p:sp>
        <p:nvSpPr>
          <p:cNvPr id="137" name="Text 45"/>
          <p:cNvSpPr/>
          <p:nvPr/>
        </p:nvSpPr>
        <p:spPr>
          <a:xfrm>
            <a:off x="6473952" y="509970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8" name="Text 46"/>
          <p:cNvSpPr/>
          <p:nvPr/>
        </p:nvSpPr>
        <p:spPr>
          <a:xfrm>
            <a:off x="6656832" y="509056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API 키 평문 저장을 없애고, FE는 운영 편의 기능만 담당하게 만든다.</a:t>
            </a:r>
          </a:p>
        </p:txBody>
      </p:sp>
      <p:sp>
        <p:nvSpPr>
          <p:cNvPr id="142" name="Text 25"/>
          <p:cNvSpPr/>
          <p:nvPr/>
        </p:nvSpPr>
        <p:spPr>
          <a:xfrm>
            <a:off x="658368" y="6058739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FE 포기: 외부 노출면은 줄어든다. 다만 내부자 유출과 secret 관리 이슈는 별도 통제가 필요하다.</a:t>
            </a:r>
          </a:p>
        </p:txBody>
      </p:sp>
      <p:sp>
        <p:nvSpPr>
          <p:cNvPr id="143" name="Text 25"/>
          <p:cNvSpPr/>
          <p:nvPr/>
        </p:nvSpPr>
        <p:spPr>
          <a:xfrm>
            <a:off x="6144768" y="6058948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FE 유지: 내부 운영용이라도 bridge 인증, secret 저장, 세션 분리 없이는 FE가 가장 직접적인 취약점 표면이 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</a:t>
            </a:r>
            <a:r>
              <a:rPr 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PASS_WITH_FIX는 accept branch 내부 patch loop이고, REJECT는 같은 단계 재시도 또는 상위 단계 재작성으로 올라간다</a:t>
            </a:r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and persist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검증까지 통과하면 저장 후보가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371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53896"/>
            <a:ext cx="15179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65960"/>
            <a:ext cx="29626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local patch loop</a:t>
            </a:r>
          </a:p>
          <a:p>
            <a:r>
              <a:t>accept branch 안에서 수정하고 Director가 다시 감리한다.</a:t>
            </a:r>
          </a:p>
        </p:txBody>
      </p:sp>
      <p:sp>
        <p:nvSpPr>
          <p:cNvPr id="15" name="Shape 13"/>
          <p:cNvSpPr/>
          <p:nvPr/>
        </p:nvSpPr>
        <p:spPr>
          <a:xfrm>
            <a:off x="815644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38528"/>
            <a:ext cx="2944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t>retry routing</a:t>
            </a:r>
          </a:p>
          <a:p>
            <a:r>
              <a:t>같은 실패 패턴이 반복되면 더 큰 재생성 또는 상위 단계 재작성으로 올라간다.</a:t>
            </a: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182112"/>
          <a:ext cx="1069848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lane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inplace patch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초안을 유지한 채 명확한 오류 지점만 국소 수정한다.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reduced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장면 또는 논리 블록만 다시 써서 비용을 낮춘다.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 계약이 무너지면 거의 새 원고처럼 다시 생성한다.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 레벨에서 수렴하지 않으면 단일 에피소드 blueprint까지 역피드백을 올린다.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QR-7 reroute / HIL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pathology가 반복되면 full rewrite reroute 또는 인간 개입 구간으로 escalation된다.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57424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52160"/>
            <a:ext cx="104058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t>요지: 첫 라운드는 ensemble 3개 후보에서 시작하고, stage별 기회가 소진되면 정지 후 HIL 대기로 넘긴다.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888</Words>
  <Application>Microsoft Office PowerPoint</Application>
  <PresentationFormat>와이드스크린</PresentationFormat>
  <Paragraphs>201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Arial</vt:lpstr>
      <vt:lpstr>Calibri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운영 전환 발표</dc:title>
  <dc:subject>글도비 운영 전환 발표용 AI 생산 구조 브리프</dc:subject>
  <dc:creator>Codex</dc:creator>
  <cp:lastModifiedBy>wjjo</cp:lastModifiedBy>
  <cp:revision>9</cp:revision>
  <dcterms:created xsi:type="dcterms:W3CDTF">2026-04-02T01:08:40Z</dcterms:created>
  <dcterms:modified xsi:type="dcterms:W3CDTF">2026-04-02T01:58:16Z</dcterms:modified>
</cp:coreProperties>
</file>